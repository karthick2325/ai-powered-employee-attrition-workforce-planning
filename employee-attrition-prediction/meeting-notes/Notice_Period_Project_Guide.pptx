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a5e40159-68e2-d588-a8fb-3372a5bc7647}">
          <p14:sldIdLst>
            <p14:sldId id="256"/>
          </p14:sldIdLst>
        </p14:section>
        <p14:section name="From the guide" id="{c92209b0-b63d-eb22-dd2b-5f97468a5ebb}">
          <p14:sldIdLst>
            <p14:sldId id="257"/>
            <p14:sldId id="258"/>
            <p14:sldId id="259"/>
            <p14:sldId id="260"/>
          </p14:sldIdLst>
        </p14:section>
        <p14:section name="In the dataset" id="{97776dca-2451-6784-6cff-609f9d8d1e06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Average Notice_Days by department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Notice_Days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Human Resources</c:v>
                  </c:pt>
                  <c:pt idx="1">
                    <c:v>Customer Support</c:v>
                  </c:pt>
                  <c:pt idx="2">
                    <c:v>Technology</c:v>
                  </c:pt>
                  <c:pt idx="3">
                    <c:v>Sales</c:v>
                  </c:pt>
                  <c:pt idx="4">
                    <c:v>Finance</c:v>
                  </c:pt>
                  <c:pt idx="5">
                    <c:v>Operations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36.4</c:v>
                </c:pt>
                <c:pt idx="1">
                  <c:v>44.4</c:v>
                </c:pt>
                <c:pt idx="2">
                  <c:v>50.2</c:v>
                </c:pt>
                <c:pt idx="3">
                  <c:v>54.6</c:v>
                </c:pt>
                <c:pt idx="4">
                  <c:v>59.3</c:v>
                </c:pt>
                <c:pt idx="5">
                  <c:v>66.6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Expected last working days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exits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Oct 2026</c:v>
                  </c:pt>
                  <c:pt idx="1">
                    <c:v>Nov 2026</c:v>
                  </c:pt>
                  <c:pt idx="2">
                    <c:v>Dec 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B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05840"/>
            <a:ext cx="45720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834640"/>
            <a:ext cx="4389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Notice Period Column  |  Employee Attrition Dataset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0058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Notice Period Column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Notice_Days and the date columns behind it</a:t>
            </a:r>
            <a:endParaRPr lang="en-US" sz="1800" dirty="0"/>
          </a:p>
        </p:txBody>
      </p:sp>
      <p:sp>
        <p:nvSpPr>
          <p:cNvPr id="4" name="Source note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Source: Employee Attrition Dataset – Thunglish Guide</a:t>
            </a:r>
            <a:endParaRPr lang="en-US" sz="1200" dirty="0"/>
          </a:p>
        </p:txBody>
      </p:sp>
      <p:sp>
        <p:nvSpPr>
          <p:cNvPr id="5" name="Timeline line"/>
          <p:cNvSpPr/>
          <p:nvPr/>
        </p:nvSpPr>
        <p:spPr>
          <a:xfrm>
            <a:off x="5989320" y="1325880"/>
            <a:ext cx="0" cy="201168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6" name="Timeline node 1"/>
          <p:cNvSpPr/>
          <p:nvPr/>
        </p:nvSpPr>
        <p:spPr>
          <a:xfrm>
            <a:off x="5824728" y="116128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imeline label 1"/>
          <p:cNvSpPr txBox="1"/>
          <p:nvPr/>
        </p:nvSpPr>
        <p:spPr>
          <a:xfrm>
            <a:off x="6400800" y="1051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Notice_Start_Date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Notice period begins</a:t>
            </a:r>
            <a:endParaRPr lang="en-US" sz="1300" dirty="0"/>
          </a:p>
        </p:txBody>
      </p:sp>
      <p:sp>
        <p:nvSpPr>
          <p:cNvPr id="8" name="Timeline node 2"/>
          <p:cNvSpPr/>
          <p:nvPr/>
        </p:nvSpPr>
        <p:spPr>
          <a:xfrm>
            <a:off x="5824728" y="21671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imeline label 2"/>
          <p:cNvSpPr txBox="1"/>
          <p:nvPr/>
        </p:nvSpPr>
        <p:spPr>
          <a:xfrm>
            <a:off x="6400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Expected_Last_Working_Day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Expected exit date</a:t>
            </a:r>
            <a:endParaRPr lang="en-US" sz="1300" dirty="0"/>
          </a:p>
        </p:txBody>
      </p:sp>
      <p:sp>
        <p:nvSpPr>
          <p:cNvPr id="10" name="Timeline node 3"/>
          <p:cNvSpPr/>
          <p:nvPr/>
        </p:nvSpPr>
        <p:spPr>
          <a:xfrm>
            <a:off x="5824728" y="317296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imeline label 3"/>
          <p:cNvSpPr txBox="1"/>
          <p:nvPr/>
        </p:nvSpPr>
        <p:spPr>
          <a:xfrm>
            <a:off x="640080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Actual_Last_Working_Day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Actual exit date</a:t>
            </a:r>
            <a:endParaRPr lang="en-US" sz="1300" dirty="0"/>
          </a:p>
        </p:txBody>
      </p:sp>
      <p:sp>
        <p:nvSpPr>
          <p:cNvPr id="12" name="Notice_Days pill"/>
          <p:cNvSpPr/>
          <p:nvPr/>
        </p:nvSpPr>
        <p:spPr>
          <a:xfrm>
            <a:off x="5669280" y="3931920"/>
            <a:ext cx="301752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3" name="Notice_Days pill text"/>
          <p:cNvSpPr txBox="1"/>
          <p:nvPr/>
        </p:nvSpPr>
        <p:spPr>
          <a:xfrm>
            <a:off x="5669280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Notice_Days = last day − start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Three columns behind notice period</a:t>
            </a:r>
            <a:endParaRPr lang="en-US" sz="3400" dirty="0"/>
          </a:p>
        </p:txBody>
      </p:sp>
      <p:sp>
        <p:nvSpPr>
          <p:cNvPr id="3" name="Row card 1"/>
          <p:cNvSpPr/>
          <p:nvPr/>
        </p:nvSpPr>
        <p:spPr>
          <a:xfrm>
            <a:off x="457200" y="12344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" name="Row number 1"/>
          <p:cNvSpPr/>
          <p:nvPr/>
        </p:nvSpPr>
        <p:spPr>
          <a:xfrm>
            <a:off x="640080" y="14401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ow number 1 label"/>
          <p:cNvSpPr txBox="1"/>
          <p:nvPr/>
        </p:nvSpPr>
        <p:spPr>
          <a:xfrm>
            <a:off x="640080" y="1440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Column name 1"/>
          <p:cNvSpPr txBox="1"/>
          <p:nvPr/>
        </p:nvSpPr>
        <p:spPr>
          <a:xfrm>
            <a:off x="1325880" y="12344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Notice_Start_Date</a:t>
            </a:r>
            <a:endParaRPr lang="en-US" sz="1600" dirty="0"/>
          </a:p>
        </p:txBody>
      </p:sp>
      <p:sp>
        <p:nvSpPr>
          <p:cNvPr id="7" name="Column meaning 1"/>
          <p:cNvSpPr txBox="1"/>
          <p:nvPr/>
        </p:nvSpPr>
        <p:spPr>
          <a:xfrm>
            <a:off x="4389120" y="12344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“Notice period start aana date.”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date the notice period began.</a:t>
            </a:r>
            <a:endParaRPr lang="en-US" sz="1300" dirty="0"/>
          </a:p>
        </p:txBody>
      </p:sp>
      <p:sp>
        <p:nvSpPr>
          <p:cNvPr id="8" name="Row card 2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Row number 2"/>
          <p:cNvSpPr/>
          <p:nvPr/>
        </p:nvSpPr>
        <p:spPr>
          <a:xfrm>
            <a:off x="640080" y="24460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ow number 2 label"/>
          <p:cNvSpPr txBox="1"/>
          <p:nvPr/>
        </p:nvSpPr>
        <p:spPr>
          <a:xfrm>
            <a:off x="640080" y="24460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olumn name 2"/>
          <p:cNvSpPr txBox="1"/>
          <p:nvPr/>
        </p:nvSpPr>
        <p:spPr>
          <a:xfrm>
            <a:off x="1325880" y="2240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Expected_Last_Working_Day</a:t>
            </a:r>
            <a:endParaRPr lang="en-US" sz="1600" dirty="0"/>
          </a:p>
        </p:txBody>
      </p:sp>
      <p:sp>
        <p:nvSpPr>
          <p:cNvPr id="12" name="Column meaning 2"/>
          <p:cNvSpPr txBox="1"/>
          <p:nvPr/>
        </p:nvSpPr>
        <p:spPr>
          <a:xfrm>
            <a:off x="4389120" y="22402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“Expected-a company leave panra date.”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date the employee is expected to leave.</a:t>
            </a:r>
            <a:endParaRPr lang="en-US" sz="1300" dirty="0"/>
          </a:p>
        </p:txBody>
      </p:sp>
      <p:sp>
        <p:nvSpPr>
          <p:cNvPr id="13" name="Row card 3"/>
          <p:cNvSpPr/>
          <p:nvPr/>
        </p:nvSpPr>
        <p:spPr>
          <a:xfrm>
            <a:off x="457200" y="324612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4" name="Row number 3"/>
          <p:cNvSpPr/>
          <p:nvPr/>
        </p:nvSpPr>
        <p:spPr>
          <a:xfrm>
            <a:off x="640080" y="34518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ow number 3 label"/>
          <p:cNvSpPr txBox="1"/>
          <p:nvPr/>
        </p:nvSpPr>
        <p:spPr>
          <a:xfrm>
            <a:off x="640080" y="3451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Column name 3"/>
          <p:cNvSpPr txBox="1"/>
          <p:nvPr/>
        </p:nvSpPr>
        <p:spPr>
          <a:xfrm>
            <a:off x="132588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Actual_Last_Working_Day</a:t>
            </a:r>
            <a:endParaRPr lang="en-US" sz="1600" dirty="0"/>
          </a:p>
        </p:txBody>
      </p:sp>
      <p:sp>
        <p:nvSpPr>
          <p:cNvPr id="17" name="Column meaning 3"/>
          <p:cNvSpPr txBox="1"/>
          <p:nvPr/>
        </p:nvSpPr>
        <p:spPr>
          <a:xfrm>
            <a:off x="4389120" y="3246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“Actual-a company leave panna date.”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date the employee actually left.</a:t>
            </a:r>
            <a:endParaRPr lang="en-US" sz="1300" dirty="0"/>
          </a:p>
        </p:txBody>
      </p:sp>
      <p:sp>
        <p:nvSpPr>
          <p:cNvPr id="18" name="Footnote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Quoted wording is copied from the guide’s column table (section 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Notice_Days: how it’s built</a:t>
            </a:r>
            <a:endParaRPr lang="en-US" sz="3400" dirty="0"/>
          </a:p>
        </p:txBody>
      </p:sp>
      <p:sp>
        <p:nvSpPr>
          <p:cNvPr id="3" name="Formula box 1"/>
          <p:cNvSpPr/>
          <p:nvPr/>
        </p:nvSpPr>
        <p:spPr>
          <a:xfrm>
            <a:off x="457200" y="128016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4" name="Formula box 1 text"/>
          <p:cNvSpPr txBox="1"/>
          <p:nvPr/>
        </p:nvSpPr>
        <p:spPr>
          <a:xfrm>
            <a:off x="457200" y="1280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Expected_Last_Working_Day</a:t>
            </a:r>
            <a:endParaRPr lang="en-US" sz="1500" dirty="0"/>
          </a:p>
        </p:txBody>
      </p:sp>
      <p:sp>
        <p:nvSpPr>
          <p:cNvPr id="5" name="Minus"/>
          <p:cNvSpPr txBox="1"/>
          <p:nvPr/>
        </p:nvSpPr>
        <p:spPr>
          <a:xfrm>
            <a:off x="3566160" y="1280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−</a:t>
            </a:r>
            <a:endParaRPr lang="en-US" sz="3000" dirty="0"/>
          </a:p>
        </p:txBody>
      </p:sp>
      <p:sp>
        <p:nvSpPr>
          <p:cNvPr id="6" name="Formula box 2"/>
          <p:cNvSpPr/>
          <p:nvPr/>
        </p:nvSpPr>
        <p:spPr>
          <a:xfrm>
            <a:off x="4023360" y="1280160"/>
            <a:ext cx="237744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7" name="Formula box 2 text"/>
          <p:cNvSpPr txBox="1"/>
          <p:nvPr/>
        </p:nvSpPr>
        <p:spPr>
          <a:xfrm>
            <a:off x="4023360" y="12801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Notice_Start_Date</a:t>
            </a:r>
            <a:endParaRPr lang="en-US" sz="1500" dirty="0"/>
          </a:p>
        </p:txBody>
      </p:sp>
      <p:sp>
        <p:nvSpPr>
          <p:cNvPr id="8" name="Equals"/>
          <p:cNvSpPr txBox="1"/>
          <p:nvPr/>
        </p:nvSpPr>
        <p:spPr>
          <a:xfrm>
            <a:off x="6400800" y="1280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=</a:t>
            </a:r>
            <a:endParaRPr lang="en-US" sz="3000" dirty="0"/>
          </a:p>
        </p:txBody>
      </p:sp>
      <p:sp>
        <p:nvSpPr>
          <p:cNvPr id="9" name="Formula box 3"/>
          <p:cNvSpPr/>
          <p:nvPr/>
        </p:nvSpPr>
        <p:spPr>
          <a:xfrm>
            <a:off x="6858000" y="1280160"/>
            <a:ext cx="182880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10" name="Formula box 3 text"/>
          <p:cNvSpPr txBox="1"/>
          <p:nvPr/>
        </p:nvSpPr>
        <p:spPr>
          <a:xfrm>
            <a:off x="6858000" y="12801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Notice_Days</a:t>
            </a:r>
            <a:endParaRPr lang="en-US" sz="1500" dirty="0"/>
          </a:p>
        </p:txBody>
      </p:sp>
      <p:sp>
        <p:nvSpPr>
          <p:cNvPr id="11" name="Detail card 1"/>
          <p:cNvSpPr/>
          <p:nvPr/>
        </p:nvSpPr>
        <p:spPr>
          <a:xfrm>
            <a:off x="457200" y="2606040"/>
            <a:ext cx="3977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2" name="Detail text 1"/>
          <p:cNvSpPr txBox="1"/>
          <p:nvPr/>
        </p:nvSpPr>
        <p:spPr>
          <a:xfrm>
            <a:off x="685800" y="28346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NOTICE_DAYS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Expected last day − Notice start date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chemeClr val="accent6"/>
                </a:solidFill>
              </a:rPr>
              <a:t>“Notice period planning.”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Used to plan notice periods.</a:t>
            </a:r>
            <a:endParaRPr lang="en-US" sz="1100" dirty="0"/>
          </a:p>
        </p:txBody>
      </p:sp>
      <p:sp>
        <p:nvSpPr>
          <p:cNvPr id="13" name="Detail card 2"/>
          <p:cNvSpPr/>
          <p:nvPr/>
        </p:nvSpPr>
        <p:spPr>
          <a:xfrm>
            <a:off x="4709160" y="2606040"/>
            <a:ext cx="39776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Detail text 2"/>
          <p:cNvSpPr txBox="1"/>
          <p:nvPr/>
        </p:nvSpPr>
        <p:spPr>
          <a:xfrm>
            <a:off x="4937760" y="283464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RELATED: DAYS_TO_EXPECTED_EXIT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Expected last day − analysis date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chemeClr val="accent6"/>
                </a:solidFill>
              </a:rPr>
              <a:t>“Upcoming exits identify pannradhu.”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Used to spot upcoming exits.</a:t>
            </a:r>
            <a:endParaRPr lang="en-US" sz="1100" dirty="0"/>
          </a:p>
        </p:txBody>
      </p:sp>
      <p:sp>
        <p:nvSpPr>
          <p:cNvPr id="15" name="Footnote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Both are new calculated columns — the original data stays unchanged.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Where notice dates get used</a:t>
            </a:r>
            <a:endParaRPr lang="en-US" sz="3400" dirty="0"/>
          </a:p>
        </p:txBody>
      </p:sp>
      <p:sp>
        <p:nvSpPr>
          <p:cNvPr id="3" name="Left heading"/>
          <p:cNvSpPr txBox="1"/>
          <p:nvPr/>
        </p:nvSpPr>
        <p:spPr>
          <a:xfrm>
            <a:off x="457200" y="1188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WORKFORCE PLANNING QUESTIONS (GUIDE §2.3)</a:t>
            </a:r>
            <a:endParaRPr lang="en-US" sz="1100" dirty="0"/>
          </a:p>
        </p:txBody>
      </p:sp>
      <p:sp>
        <p:nvSpPr>
          <p:cNvPr id="4" name="Question number 1"/>
          <p:cNvSpPr/>
          <p:nvPr/>
        </p:nvSpPr>
        <p:spPr>
          <a:xfrm>
            <a:off x="457200" y="16367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Question number 1 label"/>
          <p:cNvSpPr txBox="1"/>
          <p:nvPr/>
        </p:nvSpPr>
        <p:spPr>
          <a:xfrm>
            <a:off x="45720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Question text 1"/>
          <p:cNvSpPr txBox="1"/>
          <p:nvPr/>
        </p:nvSpPr>
        <p:spPr>
          <a:xfrm>
            <a:off x="1005840" y="1508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How many employees are active right now?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Ippo company-la ethana active employees irukkaanga?</a:t>
            </a:r>
            <a:endParaRPr lang="en-US" sz="1400" dirty="0"/>
          </a:p>
        </p:txBody>
      </p:sp>
      <p:sp>
        <p:nvSpPr>
          <p:cNvPr id="7" name="Question number 2"/>
          <p:cNvSpPr/>
          <p:nvPr/>
        </p:nvSpPr>
        <p:spPr>
          <a:xfrm>
            <a:off x="457200" y="2441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Question number 2 label"/>
          <p:cNvSpPr txBox="1"/>
          <p:nvPr/>
        </p:nvSpPr>
        <p:spPr>
          <a:xfrm>
            <a:off x="45720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Question text 2"/>
          <p:cNvSpPr txBox="1"/>
          <p:nvPr/>
        </p:nvSpPr>
        <p:spPr>
          <a:xfrm>
            <a:off x="1005840" y="23134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Which departments may run short of staff?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Endha department-la employees shortage varalaam?</a:t>
            </a:r>
            <a:endParaRPr lang="en-US" sz="1400" dirty="0"/>
          </a:p>
        </p:txBody>
      </p:sp>
      <p:sp>
        <p:nvSpPr>
          <p:cNvPr id="10" name="Question number 3"/>
          <p:cNvSpPr/>
          <p:nvPr/>
        </p:nvSpPr>
        <p:spPr>
          <a:xfrm>
            <a:off x="457200" y="3246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Question number 3 label"/>
          <p:cNvSpPr txBox="1"/>
          <p:nvPr/>
        </p:nvSpPr>
        <p:spPr>
          <a:xfrm>
            <a:off x="457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Question text 3"/>
          <p:cNvSpPr txBox="1"/>
          <p:nvPr/>
        </p:nvSpPr>
        <p:spPr>
          <a:xfrm>
            <a:off x="1005840" y="31181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Whose last working day is coming up soon?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Yaaroda last working day near-la irukku?</a:t>
            </a:r>
            <a:endParaRPr lang="en-US" sz="1400" dirty="0"/>
          </a:p>
        </p:txBody>
      </p:sp>
      <p:sp>
        <p:nvSpPr>
          <p:cNvPr id="13" name="Question number 4"/>
          <p:cNvSpPr/>
          <p:nvPr/>
        </p:nvSpPr>
        <p:spPr>
          <a:xfrm>
            <a:off x="457200" y="40507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uestion number 4 label"/>
          <p:cNvSpPr txBox="1"/>
          <p:nvPr/>
        </p:nvSpPr>
        <p:spPr>
          <a:xfrm>
            <a:off x="4572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Question text 4"/>
          <p:cNvSpPr txBox="1"/>
          <p:nvPr/>
        </p:nvSpPr>
        <p:spPr>
          <a:xfrm>
            <a:off x="1005840" y="392277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Which departments need a hiring plan?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Future-la hiring plan panna vendiya departments edhu?</a:t>
            </a:r>
            <a:endParaRPr lang="en-US" sz="1400" dirty="0"/>
          </a:p>
        </p:txBody>
      </p:sp>
      <p:sp>
        <p:nvSpPr>
          <p:cNvPr id="16" name="Right card"/>
          <p:cNvSpPr/>
          <p:nvPr/>
        </p:nvSpPr>
        <p:spPr>
          <a:xfrm>
            <a:off x="5029200" y="1188720"/>
            <a:ext cx="36576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7" name="Right text"/>
          <p:cNvSpPr txBox="1"/>
          <p:nvPr/>
        </p:nvSpPr>
        <p:spPr>
          <a:xfrm>
            <a:off x="5257800" y="1325880"/>
            <a:ext cx="3246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USEFUL COLUMNS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Department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Employment_Status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Notice_Start_Date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Expected_Last_Working_Day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Actual_Last_Working_Day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Job_Role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6"/>
                </a:solidFill>
              </a:rPr>
              <a:t>RELATED METRICS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Upcoming Exit Count: employees expected to leave in a specified period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Department Hiring Gap: approved target headcount − active headcount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Mind the analysis date</a:t>
            </a:r>
            <a:endParaRPr lang="en-US" sz="3400" dirty="0"/>
          </a:p>
        </p:txBody>
      </p:sp>
      <p:sp>
        <p:nvSpPr>
          <p:cNvPr id="3" name="Compare left"/>
          <p:cNvSpPr/>
          <p:nvPr/>
        </p:nvSpPr>
        <p:spPr>
          <a:xfrm>
            <a:off x="457200" y="1234440"/>
            <a:ext cx="39776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Compare left text"/>
          <p:cNvSpPr txBox="1"/>
          <p:nvPr/>
        </p:nvSpPr>
        <p:spPr>
          <a:xfrm>
            <a:off x="731520" y="12344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Calculated for today’s date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result changes later, because the current date keeps moving.</a:t>
            </a:r>
            <a:endParaRPr lang="en-US" sz="1800" dirty="0"/>
          </a:p>
        </p:txBody>
      </p:sp>
      <p:sp>
        <p:nvSpPr>
          <p:cNvPr id="5" name="Compare right"/>
          <p:cNvSpPr/>
          <p:nvPr/>
        </p:nvSpPr>
        <p:spPr>
          <a:xfrm>
            <a:off x="4709160" y="1234440"/>
            <a:ext cx="397764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6" name="Compare right text"/>
          <p:cNvSpPr txBox="1"/>
          <p:nvPr/>
        </p:nvSpPr>
        <p:spPr>
          <a:xfrm>
            <a:off x="4983480" y="123444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Fixed reporting date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Better for historical analysis — the result stays the same.</a:t>
            </a:r>
            <a:endParaRPr lang="en-US" sz="1800" dirty="0"/>
          </a:p>
        </p:txBody>
      </p:sp>
      <p:sp>
        <p:nvSpPr>
          <p:cNvPr id="7" name="Affected columns"/>
          <p:cNvSpPr txBox="1"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Which columns are affected?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Days_To_Expected_Exit depends on the analysis date. Notice_Days does not — both of its dates are fixed.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chemeClr val="accent6"/>
                </a:solidFill>
              </a:rPr>
              <a:t>Example (EMP0012, last day 24 Oct 2026): 4 days to exit on 20 Oct 2026, but 23 days on a 1 Oct 2026 report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Notice_Days in the dataset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3108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4" name="Stat number 1"/>
          <p:cNvSpPr txBox="1"/>
          <p:nvPr/>
        </p:nvSpPr>
        <p:spPr>
          <a:xfrm>
            <a:off x="640080" y="1234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55</a:t>
            </a:r>
            <a:endParaRPr lang="en-US" sz="3200" dirty="0"/>
          </a:p>
        </p:txBody>
      </p:sp>
      <p:sp>
        <p:nvSpPr>
          <p:cNvPr id="5" name="Stat label 1"/>
          <p:cNvSpPr txBox="1"/>
          <p:nvPr/>
        </p:nvSpPr>
        <p:spPr>
          <a:xfrm>
            <a:off x="214884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Notice_Period records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457200" y="2121408"/>
            <a:ext cx="3108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7" name="Stat number 2"/>
          <p:cNvSpPr txBox="1"/>
          <p:nvPr/>
        </p:nvSpPr>
        <p:spPr>
          <a:xfrm>
            <a:off x="640080" y="21214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51.3</a:t>
            </a:r>
            <a:endParaRPr lang="en-US" sz="3200" dirty="0"/>
          </a:p>
        </p:txBody>
      </p:sp>
      <p:sp>
        <p:nvSpPr>
          <p:cNvPr id="8" name="Stat label 2"/>
          <p:cNvSpPr txBox="1"/>
          <p:nvPr/>
        </p:nvSpPr>
        <p:spPr>
          <a:xfrm>
            <a:off x="2148840" y="2121408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Notice_Days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457200" y="3008376"/>
            <a:ext cx="3108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10" name="Stat number 3"/>
          <p:cNvSpPr txBox="1"/>
          <p:nvPr/>
        </p:nvSpPr>
        <p:spPr>
          <a:xfrm>
            <a:off x="640080" y="300837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11–89</a:t>
            </a:r>
            <a:endParaRPr lang="en-US" sz="3200" dirty="0"/>
          </a:p>
        </p:txBody>
      </p:sp>
      <p:sp>
        <p:nvSpPr>
          <p:cNvPr id="11" name="Stat label 3"/>
          <p:cNvSpPr txBox="1"/>
          <p:nvPr/>
        </p:nvSpPr>
        <p:spPr>
          <a:xfrm>
            <a:off x="2148840" y="3008376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Shortest to longest, in days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840480" y="1188720"/>
          <a:ext cx="4846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Footnote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All 55 values equal end date − Notice_Start_Date. For the 39 relieved employees the end date is Actual_Last_Working_Day, because Expected_Last_Working_Day is blank for them.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The workbook’s values are synthetic demo data.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16 exits are coming up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577840" y="123444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Stat number 1"/>
          <p:cNvSpPr txBox="1"/>
          <p:nvPr/>
        </p:nvSpPr>
        <p:spPr>
          <a:xfrm>
            <a:off x="5760720" y="123444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 days</a:t>
            </a:r>
            <a:endParaRPr lang="en-US" sz="2600" dirty="0"/>
          </a:p>
        </p:txBody>
      </p:sp>
      <p:sp>
        <p:nvSpPr>
          <p:cNvPr id="6" name="Stat label 1"/>
          <p:cNvSpPr txBox="1"/>
          <p:nvPr/>
        </p:nvSpPr>
        <p:spPr>
          <a:xfrm>
            <a:off x="7223760" y="12344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 the nearest exit (24 Oct 2026)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5577840" y="224028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8" name="Stat number 2"/>
          <p:cNvSpPr txBox="1"/>
          <p:nvPr/>
        </p:nvSpPr>
        <p:spPr>
          <a:xfrm>
            <a:off x="5760720" y="22402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12 Dec</a:t>
            </a:r>
            <a:endParaRPr lang="en-US" sz="2600" dirty="0"/>
          </a:p>
        </p:txBody>
      </p:sp>
      <p:sp>
        <p:nvSpPr>
          <p:cNvPr id="9" name="Stat label 2"/>
          <p:cNvSpPr txBox="1"/>
          <p:nvPr/>
        </p:nvSpPr>
        <p:spPr>
          <a:xfrm>
            <a:off x="7223760" y="22402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latest expected exit, 3 employees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5577840" y="3246120"/>
            <a:ext cx="31089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1" name="Stat number 3"/>
          <p:cNvSpPr txBox="1"/>
          <p:nvPr/>
        </p:nvSpPr>
        <p:spPr>
          <a:xfrm>
            <a:off x="5760720" y="32461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6 of 16</a:t>
            </a:r>
            <a:endParaRPr lang="en-US" sz="2600" dirty="0"/>
          </a:p>
        </p:txBody>
      </p:sp>
      <p:sp>
        <p:nvSpPr>
          <p:cNvPr id="12" name="Stat label 3"/>
          <p:cNvSpPr txBox="1"/>
          <p:nvPr/>
        </p:nvSpPr>
        <p:spPr>
          <a:xfrm>
            <a:off x="7223760" y="324612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are in Human Resources</a:t>
            </a:r>
            <a:endParaRPr lang="en-US" sz="1200" dirty="0"/>
          </a:p>
        </p:txBody>
      </p:sp>
      <p:sp>
        <p:nvSpPr>
          <p:cNvPr id="13" name="Footnote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Employees with status Notice Period (Notice_Period sheet), counted from 20 Oct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ice Period">
  <a:themeElements>
    <a:clrScheme name="Notice Period">
      <a:dk1>
        <a:srgbClr val="1B2B2F"/>
      </a:dk1>
      <a:lt1>
        <a:srgbClr val="FFFFFF"/>
      </a:lt1>
      <a:dk2>
        <a:srgbClr val="0B3C49"/>
      </a:dk2>
      <a:lt2>
        <a:srgbClr val="EAF3F3"/>
      </a:lt2>
      <a:accent1>
        <a:srgbClr val="1C7C7D"/>
      </a:accent1>
      <a:accent2>
        <a:srgbClr val="F2A541"/>
      </a:accent2>
      <a:accent3>
        <a:srgbClr val="5FA8A0"/>
      </a:accent3>
      <a:accent4>
        <a:srgbClr val="D9634C"/>
      </a:accent4>
      <a:accent5>
        <a:srgbClr val="5E7B7F"/>
      </a:accent5>
      <a:accent6>
        <a:srgbClr val="2F5D62"/>
      </a:accent6>
      <a:hlink>
        <a:srgbClr val="1C7C7D"/>
      </a:hlink>
      <a:folHlink>
        <a:srgbClr val="5E7B7F"/>
      </a:folHlink>
    </a:clrScheme>
    <a:fontScheme name="Notice Perio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Notice Period Column</dc:title>
  <dc:subject>PptxGenJS Presentation</dc:subject>
  <dc:creator>Claude</dc:creator>
  <cp:lastModifiedBy>Claude</cp:lastModifiedBy>
  <cp:revision>1</cp:revision>
  <dcterms:created xsi:type="dcterms:W3CDTF">2026-10-20T04:39:06Z</dcterms:created>
  <dcterms:modified xsi:type="dcterms:W3CDTF">2026-10-20T04:39:06Z</dcterms:modified>
</cp:coreProperties>
</file>